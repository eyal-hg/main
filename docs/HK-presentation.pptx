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פותח במשפט אחד ועוצר. לא מציג מוצר — מציג את הבעיה שהם חיים בה. השאלה שאני שואל מיד אחרי: כמה מהשבוע האחרון שלך היה באמת ייעוץ?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פותח בכאב שלהם, לא במוצר. שואל בקול כמה מהשבוע האחרון שלהם היה ייעוץ אמיתי, ומחכה לתשובה. אם הם מזהים את עצמם כאן — כל השאר נשמע אחרת.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השקף שמוכר. אני עושה את החשבון בקול מול המספרים שלהם — כמה לקוחות, כמה שעות, כמה זה שווה. אם המספר נכון אצלם, כל שאר המצגת היא רק ה"איך".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מדגיש שזה שירות ולא פיצ׳ר — אדם שמפעיל מערכת. זה מה שאף תוכנה לא מעתיקה, וזה בעצם מה שהם קונים. שואל כמה קבוצות וואטסאפ פתוחות להם ברגע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אומר את המילה נעילה בגלוי: אחרי שנה אי אפשר להחליף את זה. הזיכרון הופך לנכס של המשרד שלהם, וזה בדיוק מה שאין להם היום בשום כלי.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מסנן לקוח אחד ומראה איך הכל נופל למקום. הנקודה: השאלה שלהם היא "מה קורה עם הלקוח הזה", לא "אילו פגישות היו".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מקריא הנחיה אישית מהמסך — "פתח במספרים, הוא מאבד סבלנות מהקדמות". זה הרגע שבו יועצים מבינים שהמערכת מכירה את הלקוח ולא רק מתייקת אותו.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הפיצ׳ר שאין לאף אחד, אז אני עוצר עליו. אומר במפורש שזה לא נשלח ללקוח ולא למנהל — זה שלהם, כדי להשתפר מפגישה לפגישה.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יועצים חוששים ש-AI ימציא מספרים, אז אני מפריד חד: AI מסווג, קוד מחבר, ויש בדיקות ביקורת. זה מה שמאפשר להם להציג את הדוח בלי לבדוק אותו שורה־שורה. מזכיר שהמספרים מתוחזקים על ידי התפעול ולא על ידם.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שקף השימור. הלקוח מרגיש מטופל כל החודש ולא רק בפגישה, והכל נזקף למשרד שלהם — white-label מלא. מספר את המקרה: אחרי התראת חריגה הלקוח שאל "מה זאת אומרת חריגה", וזה הפך למשימה ליועץ.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עובר על זה מהר בכוונה. המסר הוא שזה מוצר בוגר ולא דמו — אבל אני לא שורף זמן על אדמין לפני שקף הסגירה.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חוזר למספר מהשקף השלישי וסוגר עליו את המעגל. הבקשה קונקרטית: לקוח אחד לחודש הרצה, ואני בוחר איתם מי זה כאן ועכשיו.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5669280" cy="5669280"/>
          </a:xfrm>
          <a:prstGeom prst="ellipse">
            <a:avLst/>
          </a:prstGeom>
          <a:solidFill>
            <a:srgbClr val="104A7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663440"/>
            <a:ext cx="3657600" cy="3657600"/>
          </a:xfrm>
          <a:prstGeom prst="ellipse">
            <a:avLst/>
          </a:prstGeom>
          <a:solidFill>
            <a:srgbClr val="0A35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39A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מ-10 לקוחות ל-30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015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שאינו ייעוץ — יורד ממך.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C9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שלוקחת מהיועץ העסקי את התפעול, ההקלדות, הרדיפות, הזיכרון,</a:t>
            </a:r>
            <a:endParaRPr lang="en-US" sz="1450" dirty="0"/>
          </a:p>
          <a:p>
            <a:pPr rtl="1" algn="r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C9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ההכנות והסיכומים — ומשאירה לו את השעה שבה הוא שווה כסף.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4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39AB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יועץ טוב, לוח זמנים של פקיד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מוכר שיקול דעת — ומשלם עליו בשעות הקלדה.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8745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E7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בשמונה בבוקר: ארבע־עשרה הודעות בוואטסאפ. אף אחת מהן אינה ייעוץ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E7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ההכנה לפגישה נעשית בתשע וחצי, מהזיכרון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E7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הסיכום נכתב בין ארבע לשש — ואולי יישלח מחר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E7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בין לבין: קיטלוג תנועות, התאמות, ורדיפה אחרי חומר בפעם השלישית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120640" cy="3200400"/>
          </a:xfrm>
          <a:prstGeom prst="roundRect">
            <a:avLst>
              <a:gd name="adj" fmla="val 1429"/>
            </a:avLst>
          </a:prstGeom>
          <a:solidFill>
            <a:srgbClr val="0A3557"/>
          </a:solidFill>
          <a:ln w="12700">
            <a:solidFill>
              <a:srgbClr val="104A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9A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החודש אתה יודע שני דברים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לקוחות נפלו בין הכיסאות.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כי הם לא חשובים — כי לא היה זמן.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57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ואתה לא יכול לקחת עוד לקוח.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כי אין ביקוש. כי אין שעות.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C9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כשלקוח עוזב — זה כמעט אף פעם לא בגלל שהייעוץ היה גרוע. זה בגלל שהוא הרגיש נטוש בין הפגישות.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המתמטיקה שנועלת אותך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שעות תפעול לחודש פר לקוח — זה מה שמקבע אותך על עשרה לקוחות.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2004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9397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89864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פר לקוח לחודש · בלי HK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77640" y="1965960"/>
            <a:ext cx="32004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209397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38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1–1.5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289864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פר לקוח לחודש · עם HK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1965960"/>
            <a:ext cx="32004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209397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7516368" y="289864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באותו יום עבודה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שעות עבודת לקוחות בחודש. </a:t>
            </a:r>
            <a:pPr algn="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כשכל לקוח עולה 7–10 שעות תפעול — זה עשרה לקוחות, וזו התקרה. כשהפעילות היחידה שנשארת היא ייעוץ, אותן 80 שעות מכסות 25–30 לקוחות ועוד נשאר זמן לפיתוח עסקי.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8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התקרה שלך היא שעות — לא יכולת ייעוץ.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התפעול — HK עושה את החודש במקומך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שלבי עבודה וחמש בדיקות, לכל חברה, כל חודש. אתה לא נוגע.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6547104" cy="4129659"/>
          </a:xfrm>
          <a:prstGeom prst="roundRect">
            <a:avLst>
              <a:gd name="adj" fmla="val 8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mgr-ops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עבודה: קטגוריות · מוטבים · נגררות · הודעות · הזנות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בדיקות: שורה תקציבית · חודשי · תקציבי · חומר · שינויים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התזרים לא יוצא עד שכל חריגה דווחה או הוכרעה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התזרים עונה ללקוח כל יום — אליך מגיע רק מה שדורש יועץ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תזכורת שנתקעה שלוש פעמים מסומנת «חם» ורק אז עולה אליך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התפעול נמדד פר חברה — ידוע כמה עולה כל לקוח.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יועץ עם 25 לקוחות לא זוכר מה כואב לכל אחד. המערכת זוכרת.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6547104" cy="4129659"/>
          </a:xfrm>
          <a:prstGeom prst="roundRect">
            <a:avLst>
              <a:gd name="adj" fmla="val 8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co-m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שתים־עשרה קטגוריות: מעגל החברה ומעגל אישי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ניזון מפגישות, שיחות, קבוצה וצ׳אט — לבד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שביעות רצון מזוהה לפני שהלקוח עוזב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שפנימי נשאר פנימי — הלקוח לא רואה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שנה עם HK — לזיכרון הזה אין תחליף בשום מקום.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התקשורת — מסך אחד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פגישה, שיחת טלפון, קבוצת וואטסאפ ועוזר AI — אותם תוצרים, מקום אחד.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6547104" cy="4129659"/>
          </a:xfrm>
          <a:prstGeom prst="roundRect">
            <a:avLst>
              <a:gd name="adj" fmla="val 8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adv-co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ערוץ מייצר סיכום, משימות וזיכרון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בורר לקוח = כל מה שקרה איתו, במבט אחד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ג׳וב לילי סוגר כל יום בעצמו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שלא שויכה ממתינה בתור — ולא נעלמת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בלי שיוך לחברה אינה מתומללת — אין למי לייחס אותה.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ההכנה נגזרת — לא נכתבת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פותח הכנה שנבנתה מחדש מהזיכרון החי, שתי דקות לפני הפגישה.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6547104" cy="4129659"/>
          </a:xfrm>
          <a:prstGeom prst="roundRect">
            <a:avLst>
              <a:gd name="adj" fmla="val 8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meet-pr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סוכם, מה השתנה, מה כואב, ואיך לדבר איתו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 טרום־פגישה: זום, הקלטה, או ביטול ותיאום מחדש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אחרי: סיכום, משימות וזיכרון — לאישור בלבד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שעה וחצי פר פגישה יורדת לדקות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הכנה שנכתב לפני שבוע כבר לא נכון. זה תמיד נכון לרגע שפתחת.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נותנת משוב עליך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כל פגישה — ביקורת מקצועית על ניהול הפגישה שלך. לעיניך בלבד.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6547104" cy="4129659"/>
          </a:xfrm>
          <a:prstGeom prst="roundRect">
            <a:avLst>
              <a:gd name="adj" fmla="val 886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meet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46520" cy="4029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מיקוד וחיבור ל«למה»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הקשבה ומרחב ללקוח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עומק ברובד הסמוי</a:t>
            </a:r>
            <a:endParaRPr lang="en-US" sz="1450" dirty="0"/>
          </a:p>
          <a:p>
            <a:pPr algn="r" indent="0" marL="0">
              <a:lnSpc>
                <a:spcPts val="26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84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הובלה, העצמה והנעה לפעולה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מערכת אחרת מודדת את הלקוח. זו היחידה שעוזרת ליועץ להשתפר.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המספרים — ברמת CFO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קדימה, ודוח רווח והפסד שנבנה על הכרטסת האמיתית מרואה החשבון.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5495544" cy="3472434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co-f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94960" cy="33718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67628" y="1915668"/>
            <a:ext cx="5495544" cy="3472434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9" name="Image 1" descr="/Users/eyalhazut/Documents/Claude/Projects/hk/mainScreen/docs/shots/co-ac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394960" cy="3371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532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תזרימי — יעד לכל קטגוריה, יתרות שמתגלגלות קדימה, וחריגה שנראית לפני שהיא קורית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5532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חשבונאי — </a:t>
            </a:r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14,083 תנועות ← 631 כרטיסים. AI ממפה מבנה; כל שקל מחובר בקוד דטרמיניסטי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הלקוח מקבל מערכת — ואתה את הקרדיט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תקציר בוקר שנכתב מכל הזיכרון וממספרי הבנק הטריים — בשם המשרד שלך.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15668"/>
            <a:ext cx="5495544" cy="3472434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7" name="Image 0" descr="/Users/eyalhazut/Documents/Claude/Projects/hk/mainScreen/docs/shots/cli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94960" cy="33718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67628" y="1915668"/>
            <a:ext cx="5495544" cy="3472434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  <a:effectLst>
            <a:outerShdw sx="100000" sy="100000" kx="0" ky="0" algn="bl" rotWithShape="0" blurRad="203200" dist="38100" dir="5400000">
              <a:srgbClr val="0C4068">
                <a:alpha val="16000"/>
              </a:srgbClr>
            </a:outerShdw>
          </a:effectLst>
        </p:spPr>
      </p:sp>
      <p:pic>
        <p:nvPicPr>
          <p:cNvPr id="9" name="Image 1" descr="/Users/eyalhazut/Documents/Claude/Projects/hk/mainScreen/docs/shots/cli-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394960" cy="3371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532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«היתרה עומדת על 75,187 ₪, וצפויה חריגה ב-11.07 אם ההעברה לא תבוצע»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5532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העוזר בוואטסאפ — הלקוח שואל במילים שלו, והמספרים החיים של העסק כבר בהקשר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1417320"/>
            <a:ext cx="105274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6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הלקוח לא רואה «HK» בשום מקום — לא בכותרת, לא בשם הבוט, ולא בתפקידים.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0C40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ועוד — מה שמאפשר למשרד לגדול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10527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למכסה יש שכבת ניהול שלמה שהיועץ כמעט לא נוגע בה.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02152" y="221284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2152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ובקשות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1518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שביקשת ממנהל התזרים — עם מצב ותאריך יעד, בנפרד מהמשימות שלך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201168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42048" y="221284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4204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המשרד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61518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יועצים, הרשאות, לידים, חיוב וגבייה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28432" y="201168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81944" y="221284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81944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61518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סוגי הודעות פר איש קשר · תבניות וואטסאפ מאושרות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399592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02152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 טלפון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3982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← נציג ← חברה. זה מה שמחבר שיחה נכנסת ללקוח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88536" y="379476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2048" y="399592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4204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9704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קטגוריות ובסיס ידע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89704" y="43982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שהתפעול מקטלג לפיו, ומה שה-AI יודע על התחום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28432" y="3794760"/>
            <a:ext cx="352044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81944" y="3995928"/>
            <a:ext cx="310896" cy="310896"/>
          </a:xfrm>
          <a:prstGeom prst="ellipse">
            <a:avLst/>
          </a:prstGeom>
          <a:solidFill>
            <a:srgbClr val="EAF3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981944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C4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AI ועזרה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3982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1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איכות על התוצרים · הסבר מותאם בכל מסך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4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852160" cy="5852160"/>
          </a:xfrm>
          <a:prstGeom prst="ellipse">
            <a:avLst/>
          </a:prstGeom>
          <a:solidFill>
            <a:srgbClr val="104A76"/>
          </a:solidFill>
          <a:ln/>
        </p:spPr>
      </p:sp>
      <p:sp>
        <p:nvSpPr>
          <p:cNvPr id="3" name="Shape 1"/>
          <p:cNvSpPr/>
          <p:nvPr/>
        </p:nvSpPr>
        <p:spPr>
          <a:xfrm>
            <a:off x="11240719" y="530352"/>
            <a:ext cx="402336" cy="402336"/>
          </a:xfrm>
          <a:prstGeom prst="ellipse">
            <a:avLst/>
          </a:prstGeom>
          <a:solidFill>
            <a:srgbClr val="39ABE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40719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"/>
            <a:ext cx="10527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השורה התחתונה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274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שאינו ייעוץ יורד ממך — ונשארת השעה שבה אתה שווה כסף.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0A3557"/>
          </a:solidFill>
          <a:ln w="12700">
            <a:solidFill>
              <a:srgbClr val="104A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A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10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תפעול פר לקוח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251460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0A3557"/>
          </a:solidFill>
          <a:ln w="12700">
            <a:solidFill>
              <a:srgbClr val="104A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651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A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3310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באותו יום עבודה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251460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0A3557"/>
          </a:solidFill>
          <a:ln w="12700">
            <a:solidFill>
              <a:srgbClr val="104A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8432" y="2651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A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יום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3310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ללקוח בשם המשרד שלך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E863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9028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נתחיל מלקוח אחד.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4748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נעבור על התיק, נבחר לקוח שהתפעול שלו כבד, ונריץ לו חודש מלא. אתה תגיע לפגישה ותראה מה השתנה.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i="1" dirty="0">
                <a:solidFill>
                  <a:srgbClr val="9FC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השיחה 30 דקות. אין מצגת.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 — מ-10 לקוחות ל-30</dc:title>
  <dc:subject>PptxGenJS Presentation</dc:subject>
  <dc:creator>HK</dc:creator>
  <cp:lastModifiedBy>HK</cp:lastModifiedBy>
  <cp:revision>1</cp:revision>
  <dcterms:created xsi:type="dcterms:W3CDTF">2026-09-01T20:09:02Z</dcterms:created>
  <dcterms:modified xsi:type="dcterms:W3CDTF">2026-09-01T20:09:02Z</dcterms:modified>
</cp:coreProperties>
</file>