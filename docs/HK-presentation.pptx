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שקט. משפט אחד: "אני רוצה להראות לך למה אתה תקוע על עשרה לקוחות — ומה קורה כשזה נעלם." ואז השאלה: כמה מהשבוע האחרון שלך היה באמת ייעוץ?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לתת להם לצחוק צחוק כואב. ואז: ההכנה לפגישה נעשית בתשע וחצי מהזיכרון, הסיכום נכתב בערב אם בכלל, ובין לבין אתה מקטלג תנועות בנק. בסוף החודש שני לקוחות נפלו בין הכיסאות — לא כי הם לא חשובים, כי לא היה זמן.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לעשות את החשבון בקול על המספרים שלהם: כמה לקוחות, כמה שעות פר לקוח, כמה שווה שעה שלהם. עם HK זה יורד ל-1–1.5 שעות פר לקוח — אותן 80 שעות מכסות 25–30 לקוחות. אם המספר הזה נכון אצלם, כל השאר הוא רק ה"איך".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שירות, לא פיצ׳ר — אדם שמפעיל מערכת, וזה מה שאף תוכנה לא מעתיקה. השלבים: קטגוריות, מוטבים, נגררות, הודעות לקוח, הזנות. הבדיקות: שורה תקציבית, דוח חודשי מול הבנקים בסבילות 300 ש"ח, תקציבי, חומר, שינויים. והוואטסאפ? מנהל התזרים עונה ללקוח כל יום — אליך מגיע רק מה שדורש יועץ.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יועץ עם 25 לקוחות לא זוכר מה כואב לכל אחד — המערכת זוכרת ומזכירה לפני הפגישה, לא אחריה. מה שפנימי נשאר פנימי: הלקוח לא רואה את מה שנכתב עליו. וכאן אני אומר בגלוי: אחרי שנה, לזיכרון הזה אין תחליף בשום מקום.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לסנן לקוח אחד ולהראות איך הכל נופל למקום. השאלה של יועץ היא "מה קורה עם הלקוח הזה" — לא "אילו פגישות היו". ג׳וב לילי סוגר כל יום לבד: מסכם את הקבוצות ואת הצ׳אטים, מעדכן את הזיכרון.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להקריא את ההנחיה האישית מהמסך. זה הרגע שבו יועצים מבינים שהמערכת מכירה את הלקוח, לא מתייקת אותו. ואחרי הפגישה: סיכום, משימות ועדכוני זיכרון — מוכנים לאישור. שעה וחצי פר פגישה יורדת לדקות.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לעצור כאן. כל מערכת אחרת מודדת את הלקוח — זו היחידה שעוזרת ליועץ עצמו להשתפר מפגישה לפגישה. אפשר להראות את המסך אם שואלים (יש בגיבוי), אבל המשפט חזק יותר מהצילום.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השימור: לקוח שעוזב כמעט אף פעם לא עוזב בגלל ייעוץ גרוע — הוא עוזב כי הרגיש נטוש בין פגישות. כאן הוא מרגיש מטופל כל בוקר. white-label מלא, כולל שם הבוט. סיפור אמיתי: אחרי התראת חריגה הלקוח שאל את העוזר "מה זאת אומרת חריגה?" — וזה הפך למשימה ליועץ ולשורת זיכרון.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יועצים חוששים ש-AI ימציא מספרים — להפריד חד: ה-AI רק מסווג שמות וממפה מבנה; חיבור הכסף רץ בקוד עם בדיקות ביקורת. חריגה נראית בתחזית לפני שהיא קורית, והלקוח רואה את התכנון לקריאה בלבד.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לעבור מהר — עשר שניות. המסר היחיד: יש כאן שכבת ניהול שלמה למשרד שגדל, והיא לא הנושא של הפגישה הזאת.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לחזור למספר משקף 3 ולסגור עליו את המעגל. הבקשה קונקרטית וקטנה: לקוח אחד, חודש הרצה, בוחרים אותו עכשיו יחד. בלי התחייבות על כל התיק.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spc="200" kern="0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 · מערכת ליועצים עסקיים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48840"/>
            <a:ext cx="10820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מ־10 לקוחות ל־30.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148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שאינו ייעוץ — יורד ממך.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הבוקר שלך, היום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82009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הודעות בוואטסאפ.
</a:t>
            </a:r>
            <a:pPr algn="r" indent="0" marL="0">
              <a:lnSpc>
                <a:spcPct val="115000"/>
              </a:lnSpc>
              <a:buNone/>
            </a:pPr>
            <a:r>
              <a:rPr lang="en-US" sz="5300" b="1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אחת מהן אינה ייעוץ.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צילום של שיק · "עדכנת את התשלומים?" · שני אקסלים · לקוח שכועס שלא חזרת אליו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המתמטיקה שנועלת אותך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625535" y="214884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808415" y="34747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עבודה פר לקוח בחודש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2240280"/>
            <a:ext cx="777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3F6E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967935" y="214884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5150815" y="34747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90695" y="2240280"/>
            <a:ext cx="777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3F6E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10335" y="214884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משרה</a:t>
            </a:r>
            <a:endParaRPr lang="en-US" sz="6400" dirty="0"/>
          </a:p>
        </p:txBody>
      </p:sp>
      <p:sp>
        <p:nvSpPr>
          <p:cNvPr id="10" name="Text 8"/>
          <p:cNvSpPr txBox="1"/>
          <p:nvPr/>
        </p:nvSpPr>
        <p:spPr>
          <a:xfrm>
            <a:off x="1493215" y="34747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 פקיד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39496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התקרה שלך היא שעות. </a:t>
            </a:r>
            <a:pPr algn="r" indent="0" marL="0">
              <a:buNone/>
            </a:pPr>
            <a:r>
              <a:rPr lang="en-US" sz="30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יכולת ייעוץ.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HK עושה · 1 מתוך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 עושה את החודש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במקומך.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תזרים של HK מריץ לכל לקוח שלך חמישה שלבי עבודה וחמש בדיקות — כל חודש. אתה מקבל תזרים מוכן ובדוק.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" y="2029968"/>
            <a:ext cx="10929823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54000" dist="63500" dir="5400000">
              <a:srgbClr val="0C4068">
                <a:alpha val="28000"/>
              </a:srgbClr>
            </a:outerShdw>
          </a:effectLst>
        </p:spPr>
      </p:sp>
      <p:pic>
        <p:nvPicPr>
          <p:cNvPr id="6" name="Image 0" descr="/Users/eyalhazut/Documents/Claude/Projects/hk/mainScreen/docs/shots/mgr-ops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084832"/>
            <a:ext cx="10820095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542032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0C4068"/>
          </a:solidFill>
          <a:ln/>
          <a:effectLst>
            <a:outerShdw sx="100000" sy="100000" kx="0" ky="0" algn="bl" rotWithShape="0" blurRad="152400" dist="38100" dir="5400000">
              <a:srgbClr val="0A3557">
                <a:alpha val="4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33856" y="25420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התזרים לא יוצא ללקוח עד שכל חריגה דווחה או הוכרעה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HK עושה · 2 מתוך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זוכרת את הלקוח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בשבילך.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שתים־עשרה קטגוריות זיכרון שמתעדכנות לבד מכל פגישה, שיחה והודעה — כאבים, יעדים, שביעות רצון, סגנון תקשורת.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" y="2029968"/>
            <a:ext cx="10929823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54000" dist="63500" dir="5400000">
              <a:srgbClr val="0C4068">
                <a:alpha val="28000"/>
              </a:srgbClr>
            </a:outerShdw>
          </a:effectLst>
        </p:spPr>
      </p:sp>
      <p:pic>
        <p:nvPicPr>
          <p:cNvPr id="6" name="Image 0" descr="/Users/eyalhazut/Documents/Claude/Projects/hk/mainScreen/docs/shots/co-m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084832"/>
            <a:ext cx="10820095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542032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0C4068"/>
          </a:solidFill>
          <a:ln/>
          <a:effectLst>
            <a:outerShdw sx="100000" sy="100000" kx="0" ky="0" algn="bl" rotWithShape="0" blurRad="152400" dist="38100" dir="5400000">
              <a:srgbClr val="0A3557">
                <a:alpha val="4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33856" y="25420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שביעות רצון מזוהה לפני שהלקוח עוזב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HK עושה · 3 מתוך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שנאמר ללקוח —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במסך אחד.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פגישות, שיחות טלפון, קבוצת הוואטסאפ וההתכתבות עם העוזר — אותם תוצרים: סיכום, משימות, זיכרון.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" y="2029968"/>
            <a:ext cx="10929823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54000" dist="63500" dir="5400000">
              <a:srgbClr val="0C4068">
                <a:alpha val="28000"/>
              </a:srgbClr>
            </a:outerShdw>
          </a:effectLst>
        </p:spPr>
      </p:sp>
      <p:pic>
        <p:nvPicPr>
          <p:cNvPr id="6" name="Image 0" descr="/Users/eyalhazut/Documents/Claude/Projects/hk/mainScreen/docs/shots/adv-com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084832"/>
            <a:ext cx="10820095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542032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0C4068"/>
          </a:solidFill>
          <a:ln/>
          <a:effectLst>
            <a:outerShdw sx="100000" sy="100000" kx="0" ky="0" algn="bl" rotWithShape="0" blurRad="152400" dist="38100" dir="5400000">
              <a:srgbClr val="0A3557">
                <a:alpha val="4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33856" y="25420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שיחת טלפון שלא שויכה ממתינה בתור — ולא נעלמת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HK עושה · 4 מתוך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ההכנה לפגישה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נגזרת. לא נכתבת.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דקות לפני הפגישה אתה פותח הכנה שנבנתה עכשיו — מהזיכרון החי, מהמספרים של הבוקר, מהמשימות הפתוחות.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" y="2029968"/>
            <a:ext cx="10929823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54000" dist="63500" dir="5400000">
              <a:srgbClr val="0C4068">
                <a:alpha val="28000"/>
              </a:srgbClr>
            </a:outerShdw>
          </a:effectLst>
        </p:spPr>
      </p:sp>
      <p:pic>
        <p:nvPicPr>
          <p:cNvPr id="6" name="Image 0" descr="/Users/eyalhazut/Documents/Claude/Projects/hk/mainScreen/docs/shots/meet-pr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084832"/>
            <a:ext cx="10820095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94015" y="2542032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0C4068"/>
          </a:solidFill>
          <a:ln/>
          <a:effectLst>
            <a:outerShdw sx="100000" sy="100000" kx="0" ky="0" algn="bl" rotWithShape="0" blurRad="152400" dist="38100" dir="5400000">
              <a:srgbClr val="0A3557">
                <a:alpha val="4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22031" y="25420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«פתח במספרים — צחי מאבד סבלנות מהקדמות»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את זה לאף מתחרה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820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כל פגישה —</a:t>
            </a:r>
            <a:endParaRPr lang="en-US" sz="48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נותנת משוב </a:t>
            </a:r>
            <a:endParaRPr lang="en-US" sz="48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עליך.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663440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מיקוד וחיבור ל«למה» · הקשבה ומרחב · עבודת עומק · הובלה והנעה לפעולה
</a:t>
            </a:r>
            <a:pPr algn="r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לעיניך בלבד. לא נשלח ללקוח, לא למנהל.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ומה שהלקוח שלך רואה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מקבל מערכת.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את הקרדיט.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תקציר בוקר שנכתב כל יום מהזיכרון וממספרי הבנק, דשבורד חי, ועוזר בוואטסאפ — הכל בשם המשרד שלך. אין «HK» בשום מקום.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" y="2029968"/>
            <a:ext cx="10929823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54000" dist="63500" dir="5400000">
              <a:srgbClr val="0C4068">
                <a:alpha val="28000"/>
              </a:srgbClr>
            </a:outerShdw>
          </a:effectLst>
        </p:spPr>
      </p:sp>
      <p:pic>
        <p:nvPicPr>
          <p:cNvPr id="6" name="Image 0" descr="/Users/eyalhazut/Documents/Claude/Projects/hk/mainScreen/docs/shots/cli-das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084832"/>
            <a:ext cx="10820095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94015" y="2542032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0C4068"/>
          </a:solidFill>
          <a:ln/>
          <a:effectLst>
            <a:outerShdw sx="100000" sy="100000" kx="0" ky="0" algn="bl" rotWithShape="0" blurRad="152400" dist="38100" dir="5400000">
              <a:srgbClr val="0A3557">
                <a:alpha val="4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22031" y="25420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«היתרה 75,187 ₪ — צפויה חריגה ב־11.07 אם ההעברה לא תבוצע»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והמספרים עצמם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ברמת CFO —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שתבנה אותם.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1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תזרימי קדימה עם יעדים ללקוח, ודוח רווח והפסד שנבנה מהכרטסת האמיתית של רואה החשבון — 14,083 תנועות, 631 כרטיסים.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" y="2029968"/>
            <a:ext cx="10929823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254000" dist="63500" dir="5400000">
              <a:srgbClr val="0C4068">
                <a:alpha val="28000"/>
              </a:srgbClr>
            </a:outerShdw>
          </a:effectLst>
        </p:spPr>
      </p:sp>
      <p:pic>
        <p:nvPicPr>
          <p:cNvPr id="6" name="Image 0" descr="/Users/eyalhazut/Documents/Claude/Projects/hk/mainScreen/docs/shots/co-fca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084832"/>
            <a:ext cx="10820095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542032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0C4068"/>
          </a:solidFill>
          <a:ln/>
          <a:effectLst>
            <a:outerShdw sx="100000" sy="100000" kx="0" ky="0" algn="bl" rotWithShape="0" blurRad="152400" dist="38100" dir="5400000">
              <a:srgbClr val="0A3557">
                <a:alpha val="4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33856" y="25420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ה־AI ממפה ומסווג · כל שקל מחובר בקוד דטרמיניסטי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ומתחת למכסה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 שלם. </a:t>
            </a:r>
            <a:pPr algn="r" indent="0" marL="0">
              <a:buNone/>
            </a:pPr>
            <a:r>
              <a:rPr lang="en-US" sz="33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דמו.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964424" y="2377440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01584" y="23774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משרד והרשאות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25112" y="2377440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62272" y="23774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חיוב וגבייה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3774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לידים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964424" y="3438144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01584" y="343814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תבניות וואטסאפ מאושרות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25112" y="3438144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62272" y="343814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שיוך מספרי טלפון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85800" y="3438144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43814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קטגוריות ובסיס ידע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964424" y="4498848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01584" y="449884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AI על התוצרים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4325112" y="4498848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62272" y="449884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עזרה מותאמת בכל מסך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85800" y="4498848"/>
            <a:ext cx="3383280" cy="74980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49884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C4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ובקשות מ־HK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40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E8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השורה התחתונה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1440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שאינו ייעוץ — יורד ממך.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14055" y="21031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8488375" y="3108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תפעול פר לקוח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647895" y="21031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25–30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4922215" y="3108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באותו יום עבודה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81735" y="21031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9A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בוקר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1356055" y="3108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מטופל בשם המשרד שלך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68135" y="4206240"/>
            <a:ext cx="4937760" cy="960120"/>
          </a:xfrm>
          <a:prstGeom prst="roundRect">
            <a:avLst>
              <a:gd name="adj" fmla="val 9524"/>
            </a:avLst>
          </a:prstGeom>
          <a:solidFill>
            <a:srgbClr val="E8635A"/>
          </a:solidFill>
          <a:ln/>
          <a:effectLst>
            <a:outerShdw sx="100000" sy="100000" kx="0" ky="0" algn="bl" rotWithShape="0" blurRad="177800" dist="50800" dir="5400000">
              <a:srgbClr val="0A3557">
                <a:alpha val="4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68135" y="42062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נתחיל מלקוח אחד.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440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נבחר יחד לקוח שהתפעול שלו כבד, ו־HK תריץ לו חודש מלא.</a:t>
            </a:r>
            <a:endParaRPr lang="en-US" sz="1600" dirty="0"/>
          </a:p>
          <a:p>
            <a:pPr rtl="1"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FC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תגיע לפגישה איתו — ותראה מה השתנה.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HK — מ־10 לקוחות ל־30</dc:title>
  <dc:subject>PptxGenJS Presentation</dc:subject>
  <dc:creator>HK</dc:creator>
  <cp:lastModifiedBy>HK</cp:lastModifiedBy>
  <cp:revision>1</cp:revision>
  <dcterms:created xsi:type="dcterms:W3CDTF">2026-09-02T03:50:14Z</dcterms:created>
  <dcterms:modified xsi:type="dcterms:W3CDTF">2026-09-02T03:50:14Z</dcterms:modified>
</cp:coreProperties>
</file>