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פתיחה עניינית: "אני אעבור איתך על המערכת — מה יש בה, איך זה עובד, ומה זה נותן לך. בסוף נדבר על איך מתחילים." בלי הבטחות בפתיחה.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זה השקף שנותן להם את המפה. לומר: "אני אעבור על חמשת החלקים לפי הסדר הזה, ואראה לך כל אחד במערכת עצמה." אם הם עוצרים בשאלה על חלק מסוים — לקפוץ לשקף שלו.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להדגיש שזה שירות ולא פיצ׳ר — אדם שמפעיל מערכת. זה ההבדל מכל כלי תוכנה שהם מכירים. אם שואלים על הוואטסאפ: מנהל התזרים עונה ללקוח על תפעול שוטף בשם המשרד, ואליהם מגיע רק מה שדורש יועץ.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להראות קטגוריה אחת פתוחה. ולומר בכנות: אחרי שנה של עבודה הזיכרון הוא נכס של המשרד שלהם ואין לו תחליף — ולכן הוא נשמר בטקסט קריא ולא בקופסה שחורה.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לסנן לקוח אחד ולהראות. הנקודה: השאלה של יועץ היא "מה קורה עם הלקוח הזה", ולכן זה מסך אחד ולא ארבעה. שיחה בלי שיוך לחברה לא מתומללת בכלל.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להקריא את ההנחיה האישית מהמסך — היא באה מקטגוריית סגנון התקשורת בזיכרון. אם יש זמן: להראות את מסך הפגישה אחרי.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החלק שאין לו מקבילה בשוק — לומר עניינית ולא כהתפארות: רוב הכלים מודדים את הלקוח; כאן יש גם משוב על עבודת היועץ.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ההפרדה חשובה ליועצים: ה-AI מסווג שמות וממפה מבנה בלבד; כל חיבור של סכומים רץ בקוד דטרמיניסטי עם בדיקות ביקורת. זה מה שמאפשר להציג את הדוח ללקוח בלי לבדוק אותו שורה־שורה.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סיפור אמיתי מהמערכת: אחרי התראת חריגה הלקוח שאל את העוזר "מה זאת אומרת חריגה?" — וזה הפך למשימה ליועץ ולשורת זיכרון. מה שהלקוח שואל מגלה מה מטריד אותו.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לעבור מהר — זה לא ליבת הפגישה. המסר: השיטה מוגדרת ברמת המשרד, כך שיועץ חדש נכנס לשיטה קיימת ולא ממציא אותה מחדש.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כאן לעצור ולעשות את החשבון על המספרים שלהם: כמה לקוחות יש להם, כמה שעות הם מעריכים שהתפעול לוקח, וכמה שווה שעה שלהם. המספר צריך לצאת מהם, לא ממני.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הבקשה קונקרטית וקטנה: לקוח אחד. אם אפשר — לבחור אותו יחד עכשיו, בפגישה. זה מה שהופך את הסיום להתחלה של משהו ולא לשאלה פתוחה.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406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1691640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spc="400" kern="0" dirty="0">
                <a:solidFill>
                  <a:srgbClr val="39AB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HK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2240280"/>
            <a:ext cx="10874959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2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מערכת ניהול</a:t>
            </a:r>
            <a:endParaRPr lang="en-US" sz="54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ליועצים עסקיים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438912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9FC0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תפעול תזרים, זיכרון לקוח, תקשורת ודוחות פיננסיים — במערכת אחת, שהלקוח רואה בשם המשרד שלך.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406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E8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מבנה המערכת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768096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חמישה חלקים, מערכת אחת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8003743" y="1572768"/>
            <a:ext cx="3529584" cy="2057400"/>
          </a:xfrm>
          <a:prstGeom prst="roundRect">
            <a:avLst>
              <a:gd name="adj" fmla="val 3111"/>
            </a:avLst>
          </a:prstGeom>
          <a:solidFill>
            <a:srgbClr val="104A76"/>
          </a:solidFill>
          <a:ln w="12700">
            <a:solidFill>
              <a:srgbClr val="2A649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11535" y="1828800"/>
            <a:ext cx="365760" cy="365760"/>
          </a:xfrm>
          <a:prstGeom prst="ellipse">
            <a:avLst/>
          </a:prstGeom>
          <a:solidFill>
            <a:srgbClr val="39ABE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911535" y="1828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3199" y="2286000"/>
            <a:ext cx="3090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תפעול חודשי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223199" y="2670048"/>
            <a:ext cx="3090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FC0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מנהל תזרים של HK מריץ לכל לקוח שלך חמישה שלבי עבודה וחמש בדיקות, כל חודש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18127" y="1572768"/>
            <a:ext cx="3529584" cy="2057400"/>
          </a:xfrm>
          <a:prstGeom prst="roundRect">
            <a:avLst>
              <a:gd name="adj" fmla="val 3111"/>
            </a:avLst>
          </a:prstGeom>
          <a:solidFill>
            <a:srgbClr val="104A76"/>
          </a:solidFill>
          <a:ln w="12700">
            <a:solidFill>
              <a:srgbClr val="2A649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125919" y="1828800"/>
            <a:ext cx="365760" cy="365760"/>
          </a:xfrm>
          <a:prstGeom prst="ellipse">
            <a:avLst/>
          </a:prstGeom>
          <a:solidFill>
            <a:srgbClr val="39ABE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25919" y="1828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437583" y="2286000"/>
            <a:ext cx="3090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זיכרון לקוח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437583" y="2670048"/>
            <a:ext cx="3090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FC0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קטגוריות שמתעדכנות אוטומטית מכל פגישה, שיחה והודעה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2511" y="1572768"/>
            <a:ext cx="3529584" cy="2057400"/>
          </a:xfrm>
          <a:prstGeom prst="roundRect">
            <a:avLst>
              <a:gd name="adj" fmla="val 3111"/>
            </a:avLst>
          </a:prstGeom>
          <a:solidFill>
            <a:srgbClr val="104A76"/>
          </a:solidFill>
          <a:ln w="12700">
            <a:solidFill>
              <a:srgbClr val="2A649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40303" y="1828800"/>
            <a:ext cx="365760" cy="365760"/>
          </a:xfrm>
          <a:prstGeom prst="ellipse">
            <a:avLst/>
          </a:prstGeom>
          <a:solidFill>
            <a:srgbClr val="39ABE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340303" y="1828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51967" y="2286000"/>
            <a:ext cx="3090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תקשורת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51967" y="2670048"/>
            <a:ext cx="3090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FC0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פגישות, שיחות טלפון, קבוצת וואטסאפ והעוזר — במסך אחד עם אותם תוצרים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03743" y="3904488"/>
            <a:ext cx="3529584" cy="2057400"/>
          </a:xfrm>
          <a:prstGeom prst="roundRect">
            <a:avLst>
              <a:gd name="adj" fmla="val 3111"/>
            </a:avLst>
          </a:prstGeom>
          <a:solidFill>
            <a:srgbClr val="104A76"/>
          </a:solidFill>
          <a:ln w="12700">
            <a:solidFill>
              <a:srgbClr val="2A649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911535" y="4160520"/>
            <a:ext cx="365760" cy="365760"/>
          </a:xfrm>
          <a:prstGeom prst="ellipse">
            <a:avLst/>
          </a:prstGeom>
          <a:solidFill>
            <a:srgbClr val="39ABE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911535" y="4160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8223199" y="4617720"/>
            <a:ext cx="3090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דוחות פיננסיים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8223199" y="5001768"/>
            <a:ext cx="3090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FC0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תכנון תזרימי קדימה, דוח רווח והפסד מהכרטסת, מעקב תקציב ומדדים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218127" y="3904488"/>
            <a:ext cx="3529584" cy="2057400"/>
          </a:xfrm>
          <a:prstGeom prst="roundRect">
            <a:avLst>
              <a:gd name="adj" fmla="val 3111"/>
            </a:avLst>
          </a:prstGeom>
          <a:solidFill>
            <a:srgbClr val="104A76"/>
          </a:solidFill>
          <a:ln w="12700">
            <a:solidFill>
              <a:srgbClr val="2A649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125919" y="4160520"/>
            <a:ext cx="365760" cy="365760"/>
          </a:xfrm>
          <a:prstGeom prst="ellipse">
            <a:avLst/>
          </a:prstGeom>
          <a:solidFill>
            <a:srgbClr val="39ABE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25919" y="4160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437583" y="4617720"/>
            <a:ext cx="3090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הצד של הלקוח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4437583" y="5001768"/>
            <a:ext cx="3090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FC0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דשבורד, תקציר בוקר ועוזר בוואטסאפ — הכל בשם המשרד שלך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32511" y="3904488"/>
            <a:ext cx="3529584" cy="2057400"/>
          </a:xfrm>
          <a:prstGeom prst="roundRect">
            <a:avLst>
              <a:gd name="adj" fmla="val 3111"/>
            </a:avLst>
          </a:prstGeom>
          <a:solidFill>
            <a:srgbClr val="104A76"/>
          </a:solidFill>
          <a:ln w="12700">
            <a:solidFill>
              <a:srgbClr val="2A649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40303" y="4160520"/>
            <a:ext cx="365760" cy="365760"/>
          </a:xfrm>
          <a:prstGeom prst="ellipse">
            <a:avLst/>
          </a:prstGeom>
          <a:solidFill>
            <a:srgbClr val="2A6491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340303" y="4160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651967" y="4617720"/>
            <a:ext cx="3090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ניהול המשרד</a:t>
            </a:r>
            <a:endParaRPr lang="en-US" sz="1700" dirty="0"/>
          </a:p>
        </p:txBody>
      </p:sp>
      <p:sp>
        <p:nvSpPr>
          <p:cNvPr id="33" name="Text 31"/>
          <p:cNvSpPr txBox="1"/>
          <p:nvPr/>
        </p:nvSpPr>
        <p:spPr>
          <a:xfrm>
            <a:off x="651967" y="5001768"/>
            <a:ext cx="3090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FC0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יועצים והרשאות, חיוב, לידים, תבניות הודעות ובקרת איכות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6576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E8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1 · תפעול חודשי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900" b="1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התפעול מבוצע על ידי HK, לא על ידך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1261872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1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מנהל תזרים של HK מריץ לכל חברה חמישה שלבי עבודה — קיטלוג תנועות, מוטבי שיקים, נגררות ולא־צפויות, הודעות מהלקוח והזנות עתידיות — ואחריהם חמש בדיקות שסוגרות את החודש.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069080" y="2130552"/>
            <a:ext cx="7509967" cy="4389120"/>
          </a:xfrm>
          <a:prstGeom prst="roundRect">
            <a:avLst>
              <a:gd name="adj" fmla="val 1458"/>
            </a:avLst>
          </a:prstGeom>
          <a:solidFill>
            <a:srgbClr val="FFFFFF"/>
          </a:solidFill>
          <a:ln w="12700">
            <a:solidFill>
              <a:srgbClr val="D5DEE8"/>
            </a:solidFill>
            <a:prstDash val="solid"/>
          </a:ln>
          <a:effectLst>
            <a:outerShdw sx="100000" sy="100000" kx="0" ky="0" algn="bl" rotWithShape="0" blurRad="228600" dist="50800" dir="5400000">
              <a:srgbClr val="0C4068">
                <a:alpha val="24000"/>
              </a:srgbClr>
            </a:outerShdw>
          </a:effectLst>
        </p:spPr>
      </p:sp>
      <p:pic>
        <p:nvPicPr>
          <p:cNvPr id="6" name="Image 0" descr="/Users/eyalhazut/Documents/Claude/Projects/hk/mainScreen/docs/shots/z-op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0" y="2176272"/>
            <a:ext cx="7418527" cy="42976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370832" y="2560320"/>
            <a:ext cx="2926080" cy="621792"/>
          </a:xfrm>
          <a:prstGeom prst="roundRect">
            <a:avLst>
              <a:gd name="adj" fmla="val 8824"/>
            </a:avLst>
          </a:prstGeom>
          <a:solidFill>
            <a:srgbClr val="0C406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480560" y="2560320"/>
            <a:ext cx="27066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חמישה שלבי עבודה · חמש בדיקות · כל חודש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58368" y="2176272"/>
            <a:ext cx="3200400" cy="4297680"/>
          </a:xfrm>
          <a:prstGeom prst="roundRect">
            <a:avLst>
              <a:gd name="adj" fmla="val 2000"/>
            </a:avLst>
          </a:prstGeom>
          <a:solidFill>
            <a:srgbClr val="F4F7FA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59536" y="2395728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E8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היתרון ליועץ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2779776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אפס שעות הקלדה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859536" y="3108960"/>
            <a:ext cx="2798064" cy="810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1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העבודה שנעשית היום ידנית — קיטלוג, התאמות, רדיפה אחרי חומר — יורדת ממך במלואה.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59536" y="3992880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תזרים בדוק, לא רק מוכן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859536" y="4322064"/>
            <a:ext cx="2798064" cy="810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1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הבדיקה מוודאת שהרווח הנקי יושב על תנועת הבנקים בסבילות 300 ₪, והתזרים לא נשלח עד שכל חריגה הוכרעה.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59536" y="5205984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עלות ידועה פר לקוח</a:t>
            </a:r>
            <a:endParaRPr 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859536" y="5535168"/>
            <a:ext cx="2798064" cy="810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1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זמן התפעול נמדד פר חברה, כך שידוע כמה כל לקוח עולה בפועל.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6576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E8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2 · זיכרון לקוח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900" b="1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המערכת מתחזקת פרופיל חי לכל לקוח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1261872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1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שתים־עשרה קטגוריות — מצב תזרימי, פרופיל עסקי, כאבים, יעדים, שביעות רצון, סגנון תקשורת ועוד — מתעדכנות אוטומטית מכל פגישה, שיחה והודעה. לכל קטגוריה פרומפט משלה והגדרה מי רשאי לראות אותה.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069080" y="2130552"/>
            <a:ext cx="7509967" cy="4389120"/>
          </a:xfrm>
          <a:prstGeom prst="roundRect">
            <a:avLst>
              <a:gd name="adj" fmla="val 1458"/>
            </a:avLst>
          </a:prstGeom>
          <a:solidFill>
            <a:srgbClr val="FFFFFF"/>
          </a:solidFill>
          <a:ln w="12700">
            <a:solidFill>
              <a:srgbClr val="D5DEE8"/>
            </a:solidFill>
            <a:prstDash val="solid"/>
          </a:ln>
          <a:effectLst>
            <a:outerShdw sx="100000" sy="100000" kx="0" ky="0" algn="bl" rotWithShape="0" blurRad="228600" dist="50800" dir="5400000">
              <a:srgbClr val="0C4068">
                <a:alpha val="24000"/>
              </a:srgbClr>
            </a:outerShdw>
          </a:effectLst>
        </p:spPr>
      </p:sp>
      <p:pic>
        <p:nvPicPr>
          <p:cNvPr id="6" name="Image 0" descr="/Users/eyalhazut/Documents/Claude/Projects/hk/mainScreen/docs/shots/z-me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0" y="2176272"/>
            <a:ext cx="7418527" cy="42976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370832" y="2560320"/>
            <a:ext cx="2926080" cy="621792"/>
          </a:xfrm>
          <a:prstGeom prst="roundRect">
            <a:avLst>
              <a:gd name="adj" fmla="val 8824"/>
            </a:avLst>
          </a:prstGeom>
          <a:solidFill>
            <a:srgbClr val="0C406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480560" y="2560320"/>
            <a:ext cx="27066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מעגל החברה ומעגל אישי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58368" y="2176272"/>
            <a:ext cx="3200400" cy="4297680"/>
          </a:xfrm>
          <a:prstGeom prst="roundRect">
            <a:avLst>
              <a:gd name="adj" fmla="val 2000"/>
            </a:avLst>
          </a:prstGeom>
          <a:solidFill>
            <a:srgbClr val="F4F7FA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59536" y="2395728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E8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היתרון ליועץ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2779776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צריך לזכור 25 לקוחות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859536" y="3108960"/>
            <a:ext cx="2798064" cy="810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1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שנאמר בפגישה לפני חודשיים נמצא בכרטיס, עם תאריך ומקור.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59536" y="3992880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התרעה לפני שלקוח עוזב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859536" y="4322064"/>
            <a:ext cx="2798064" cy="810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1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ירידה בשביעות רצון נלמדת מהטון בפגישה, מביטולים ומהקבוצה — ומגיעה אליך בזמן.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59536" y="5205984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שקיפות מלאה</a:t>
            </a:r>
            <a:endParaRPr 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859536" y="5535168"/>
            <a:ext cx="2798064" cy="810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1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אפשר לראות בכל רגע מה נכתב, מאיזה מקור, ועל ידי איזה תהליך.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6576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E8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3 · תקשורת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900" b="1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ארבעה ערוצים, מסך אחד, אותם תוצרים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1261872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1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פגישות, שיחות טלפון, קבוצת הוואטסאפ וההתכתבות עם העוזר יושבות ברשימה אחת. כל פריט מייצר את אותם תוצרים: סיכום, משימות מוצעות ועדכוני זיכרון. ג׳וב לילי סוגר כל יום.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069080" y="2130552"/>
            <a:ext cx="7509967" cy="4389120"/>
          </a:xfrm>
          <a:prstGeom prst="roundRect">
            <a:avLst>
              <a:gd name="adj" fmla="val 1458"/>
            </a:avLst>
          </a:prstGeom>
          <a:solidFill>
            <a:srgbClr val="FFFFFF"/>
          </a:solidFill>
          <a:ln w="12700">
            <a:solidFill>
              <a:srgbClr val="D5DEE8"/>
            </a:solidFill>
            <a:prstDash val="solid"/>
          </a:ln>
          <a:effectLst>
            <a:outerShdw sx="100000" sy="100000" kx="0" ky="0" algn="bl" rotWithShape="0" blurRad="228600" dist="50800" dir="5400000">
              <a:srgbClr val="0C4068">
                <a:alpha val="24000"/>
              </a:srgbClr>
            </a:outerShdw>
          </a:effectLst>
        </p:spPr>
      </p:sp>
      <p:pic>
        <p:nvPicPr>
          <p:cNvPr id="6" name="Image 0" descr="/Users/eyalhazut/Documents/Claude/Projects/hk/mainScreen/docs/shots/z-com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0" y="2176272"/>
            <a:ext cx="7418527" cy="42976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370832" y="2560320"/>
            <a:ext cx="2926080" cy="621792"/>
          </a:xfrm>
          <a:prstGeom prst="roundRect">
            <a:avLst>
              <a:gd name="adj" fmla="val 8824"/>
            </a:avLst>
          </a:prstGeom>
          <a:solidFill>
            <a:srgbClr val="0C406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480560" y="2560320"/>
            <a:ext cx="27066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פגישה · טלפון · וואטסאפ · עוזר AI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58368" y="2176272"/>
            <a:ext cx="3200400" cy="4297680"/>
          </a:xfrm>
          <a:prstGeom prst="roundRect">
            <a:avLst>
              <a:gd name="adj" fmla="val 2000"/>
            </a:avLst>
          </a:prstGeom>
          <a:solidFill>
            <a:srgbClr val="F4F7FA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59536" y="2395728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E8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היתרון ליועץ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2779776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סינון לפי לקוח = תמונה מלאה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859536" y="3108960"/>
            <a:ext cx="2798064" cy="810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1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בלחיצה אחת רואים כל מה שקרה עם לקוח מסוים — בכל הערוצים, לפי סדר.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59536" y="3992880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שיחות טלפון לא הולכות לאיבוד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859536" y="4322064"/>
            <a:ext cx="2798064" cy="810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1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שיחה מוקלטת, מתומללת והופכת לזיכרון. שיחה שלא זוהתה ממתינה בתור לשיוך.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59536" y="5205984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הקבוצה מסוכמת כל לילה</a:t>
            </a:r>
            <a:endParaRPr 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859536" y="5535168"/>
            <a:ext cx="2798064" cy="810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1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עלה, מי כתב, ומה נכנס לזיכרון — בלי שתקרא את ההודעות.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6576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E8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3 · תקשורת — הפגישה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900" b="1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הכנה שנבנית מחדש בכל פתיחה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1261872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1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דף ההכנה לא נשמר ולא נכתב מראש — הוא נגזר ברגע הפתיחה מהזיכרון החי, מהמספרים העדכניים ומהמשימות הפתוחות: מה סוכם בפעם הקודמת, מה השתנה מאז, ואיך מדברים עם האדם הזה.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069080" y="2130552"/>
            <a:ext cx="7509967" cy="4389120"/>
          </a:xfrm>
          <a:prstGeom prst="roundRect">
            <a:avLst>
              <a:gd name="adj" fmla="val 1458"/>
            </a:avLst>
          </a:prstGeom>
          <a:solidFill>
            <a:srgbClr val="FFFFFF"/>
          </a:solidFill>
          <a:ln w="12700">
            <a:solidFill>
              <a:srgbClr val="D5DEE8"/>
            </a:solidFill>
            <a:prstDash val="solid"/>
          </a:ln>
          <a:effectLst>
            <a:outerShdw sx="100000" sy="100000" kx="0" ky="0" algn="bl" rotWithShape="0" blurRad="228600" dist="50800" dir="5400000">
              <a:srgbClr val="0C4068">
                <a:alpha val="24000"/>
              </a:srgbClr>
            </a:outerShdw>
          </a:effectLst>
        </p:spPr>
      </p:sp>
      <p:pic>
        <p:nvPicPr>
          <p:cNvPr id="6" name="Image 0" descr="/Users/eyalhazut/Documents/Claude/Projects/hk/mainScreen/docs/shots/z-pre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0" y="2176272"/>
            <a:ext cx="7418527" cy="42976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351215" y="2560320"/>
            <a:ext cx="2926080" cy="621792"/>
          </a:xfrm>
          <a:prstGeom prst="roundRect">
            <a:avLst>
              <a:gd name="adj" fmla="val 8824"/>
            </a:avLst>
          </a:prstGeom>
          <a:solidFill>
            <a:srgbClr val="0C406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460943" y="2560320"/>
            <a:ext cx="27066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«פתח במספרים — צחי מאבד סבלנות מהקדמות»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58368" y="2176272"/>
            <a:ext cx="3200400" cy="4297680"/>
          </a:xfrm>
          <a:prstGeom prst="roundRect">
            <a:avLst>
              <a:gd name="adj" fmla="val 2000"/>
            </a:avLst>
          </a:prstGeom>
          <a:solidFill>
            <a:srgbClr val="F4F7FA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59536" y="2395728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E8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היתרון ליועץ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2779776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הכנה בשתי דקות במקום שעה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859536" y="3108960"/>
            <a:ext cx="2798064" cy="810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1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נפתחת מוכנה מהיומן או מהבר שעולה חמש דקות לפני הפגישה.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59536" y="3992880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תמיד עדכנית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859536" y="4322064"/>
            <a:ext cx="2798064" cy="810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1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מסמך שנכתב לפני שבוע כבר לא נכון. זה נכון לרגע שנפתח.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59536" y="5205984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אחרי הפגישה — לאישור בלבד</a:t>
            </a:r>
            <a:endParaRPr 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859536" y="5535168"/>
            <a:ext cx="2798064" cy="810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1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סיכום, משימות שחולצו ועדכוני זיכרון מוכנים; אתה מאשר ושולח.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6576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E8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3 · תקשורת — משוב מקצועי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900" b="1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המערכת מנתחת גם את ניהול הפגישה שלך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1261872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1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אחרי כל פגישה נוצר משוב על עבודת היועץ בארבעה צירים: מיקוד וחיבור ל«למה», הקשבה ומתן מרחב, עבודה ברובד הסמוי, והובלה והנעה לפעולה. המשוב גלוי ליועץ בלבד ואינו נשלח ללקוח או למנהל.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069080" y="2130552"/>
            <a:ext cx="7509967" cy="4389120"/>
          </a:xfrm>
          <a:prstGeom prst="roundRect">
            <a:avLst>
              <a:gd name="adj" fmla="val 1458"/>
            </a:avLst>
          </a:prstGeom>
          <a:solidFill>
            <a:srgbClr val="FFFFFF"/>
          </a:solidFill>
          <a:ln w="12700">
            <a:solidFill>
              <a:srgbClr val="D5DEE8"/>
            </a:solidFill>
            <a:prstDash val="solid"/>
          </a:ln>
          <a:effectLst>
            <a:outerShdw sx="100000" sy="100000" kx="0" ky="0" algn="bl" rotWithShape="0" blurRad="228600" dist="50800" dir="5400000">
              <a:srgbClr val="0C4068">
                <a:alpha val="24000"/>
              </a:srgbClr>
            </a:outerShdw>
          </a:effectLst>
        </p:spPr>
      </p:sp>
      <p:pic>
        <p:nvPicPr>
          <p:cNvPr id="6" name="Image 0" descr="/Users/eyalhazut/Documents/Claude/Projects/hk/mainScreen/docs/shots/z-feedbac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0" y="2176272"/>
            <a:ext cx="7418527" cy="42976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370832" y="2560320"/>
            <a:ext cx="2926080" cy="621792"/>
          </a:xfrm>
          <a:prstGeom prst="roundRect">
            <a:avLst>
              <a:gd name="adj" fmla="val 8824"/>
            </a:avLst>
          </a:prstGeom>
          <a:solidFill>
            <a:srgbClr val="0C406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480560" y="2560320"/>
            <a:ext cx="27066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ארבעה צירי משוב · לעיני היועץ בלבד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58368" y="2176272"/>
            <a:ext cx="3200400" cy="4297680"/>
          </a:xfrm>
          <a:prstGeom prst="roundRect">
            <a:avLst>
              <a:gd name="adj" fmla="val 2000"/>
            </a:avLst>
          </a:prstGeom>
          <a:solidFill>
            <a:srgbClr val="F4F7FA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59536" y="2395728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E8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היתרון ליועץ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2779776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שיפור מדיד מפגישה לפגישה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859536" y="3108960"/>
            <a:ext cx="2798064" cy="810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1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נקודות חוזק ונקודות לשיפור, מנוסחות על הפגישה הספציפית ולא בכלליות.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59536" y="3992880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כלי הכשרה למשרד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859536" y="4322064"/>
            <a:ext cx="2798064" cy="810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1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יועץ חדש נכנס לשיטה קיימת ומקבל משוב מהפגישה הראשונה.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59536" y="5205984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פרטי לחלוטין</a:t>
            </a:r>
            <a:endParaRPr 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859536" y="5535168"/>
            <a:ext cx="2798064" cy="810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1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נשלח ללקוח, לא נראה למנהל המשרד.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6576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E8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4 · דוחות פיננסיים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900" b="1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תכנון קדימה ודוח רווח והפסד — מוכנים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1261872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1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תכנון תזרימי לחודשים קדימה עם יעד לכל קטגוריה ויתרות שמתגלגלות; ודוח רווח והפסד שנבנה מהכרטסת האמיתית של רואה החשבון — בדוגמה שבמערכת: 14,083 תנועות שהפכו ל־631 כרטיסים.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187288" y="2130552"/>
            <a:ext cx="5391760" cy="3858768"/>
          </a:xfrm>
          <a:prstGeom prst="roundRect">
            <a:avLst>
              <a:gd name="adj" fmla="val 1659"/>
            </a:avLst>
          </a:prstGeom>
          <a:solidFill>
            <a:srgbClr val="FFFFFF"/>
          </a:solidFill>
          <a:ln w="12700">
            <a:solidFill>
              <a:srgbClr val="D5DEE8"/>
            </a:solidFill>
            <a:prstDash val="solid"/>
          </a:ln>
          <a:effectLst>
            <a:outerShdw sx="100000" sy="100000" kx="0" ky="0" algn="bl" rotWithShape="0" blurRad="203200" dist="50800" dir="5400000">
              <a:srgbClr val="0C4068">
                <a:alpha val="22000"/>
              </a:srgbClr>
            </a:outerShdw>
          </a:effectLst>
        </p:spPr>
      </p:sp>
      <p:pic>
        <p:nvPicPr>
          <p:cNvPr id="6" name="Image 0" descr="/Users/eyalhazut/Documents/Claude/Projects/hk/mainScreen/docs/shots/z-acc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33008" y="2176272"/>
            <a:ext cx="5300320" cy="376732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33008" y="6071616"/>
            <a:ext cx="530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1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תכנון חשבונאי — 14,083 תנועות ← 631 כרטיסים; ה־AI ממפה מבנה, הכסף מחובר בקוד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12648" y="2130552"/>
            <a:ext cx="5391760" cy="3858768"/>
          </a:xfrm>
          <a:prstGeom prst="roundRect">
            <a:avLst>
              <a:gd name="adj" fmla="val 1659"/>
            </a:avLst>
          </a:prstGeom>
          <a:solidFill>
            <a:srgbClr val="FFFFFF"/>
          </a:solidFill>
          <a:ln w="12700">
            <a:solidFill>
              <a:srgbClr val="D5DEE8"/>
            </a:solidFill>
            <a:prstDash val="solid"/>
          </a:ln>
          <a:effectLst>
            <a:outerShdw sx="100000" sy="100000" kx="0" ky="0" algn="bl" rotWithShape="0" blurRad="203200" dist="50800" dir="5400000">
              <a:srgbClr val="0C4068">
                <a:alpha val="22000"/>
              </a:srgbClr>
            </a:outerShdw>
          </a:effectLst>
        </p:spPr>
      </p:sp>
      <p:pic>
        <p:nvPicPr>
          <p:cNvPr id="9" name="Image 1" descr="/Users/eyalhazut/Documents/Claude/Projects/hk/mainScreen/docs/shots/co-fcas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8368" y="2176272"/>
            <a:ext cx="5300320" cy="376732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58368" y="6071616"/>
            <a:ext cx="530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1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תכנון תזרימי — יעד לכל קטגוריה, וחריגה שנראית לפני שהיא קורית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-4961992" y="2130552"/>
            <a:ext cx="5391760" cy="3858768"/>
          </a:xfrm>
          <a:prstGeom prst="roundRect">
            <a:avLst>
              <a:gd name="adj" fmla="val 1659"/>
            </a:avLst>
          </a:prstGeom>
          <a:solidFill>
            <a:srgbClr val="FFFFFF"/>
          </a:solidFill>
          <a:ln w="12700">
            <a:solidFill>
              <a:srgbClr val="D5DEE8"/>
            </a:solidFill>
            <a:prstDash val="solid"/>
          </a:ln>
          <a:effectLst>
            <a:outerShdw sx="100000" sy="100000" kx="0" ky="0" algn="bl" rotWithShape="0" blurRad="203200" dist="50800" dir="5400000">
              <a:srgbClr val="0C4068">
                <a:alpha val="22000"/>
              </a:srgbClr>
            </a:outerShdw>
          </a:effectLst>
        </p:spPr>
      </p:sp>
      <p:pic>
        <p:nvPicPr>
          <p:cNvPr id="12" name="Image 2" descr="/Users/eyalhazut/Documents/Claude/Projects/hk/mainScreen/docs/shots/co-acct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-4916272" y="2176272"/>
            <a:ext cx="5300320" cy="376732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-4916272" y="6071616"/>
            <a:ext cx="530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1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תכנון חשבונאי — ה־AI ממפה מבנה, חיבור הסכומים רץ בקוד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6576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E8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5 · הצד של הלקוח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900" b="1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הלקוח מקבל מערכת בשם המשרד שלך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1261872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1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לבעל העסק יש דשבורד משלו שנפתח בתקציר בוקר — פסקה שנכתבת כל בוקר מהזיכרון ומיתרות הבנק העדכניות — ולצדה יתרה, חריגה צפויה, משימות פתוחות והעלאת מסמכים. וכן עוזר בוואטסאפ שיודע את המספרים שלו.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069080" y="2130552"/>
            <a:ext cx="7509967" cy="4389120"/>
          </a:xfrm>
          <a:prstGeom prst="roundRect">
            <a:avLst>
              <a:gd name="adj" fmla="val 1458"/>
            </a:avLst>
          </a:prstGeom>
          <a:solidFill>
            <a:srgbClr val="FFFFFF"/>
          </a:solidFill>
          <a:ln w="12700">
            <a:solidFill>
              <a:srgbClr val="D5DEE8"/>
            </a:solidFill>
            <a:prstDash val="solid"/>
          </a:ln>
          <a:effectLst>
            <a:outerShdw sx="100000" sy="100000" kx="0" ky="0" algn="bl" rotWithShape="0" blurRad="228600" dist="50800" dir="5400000">
              <a:srgbClr val="0C4068">
                <a:alpha val="24000"/>
              </a:srgbClr>
            </a:outerShdw>
          </a:effectLst>
        </p:spPr>
      </p:sp>
      <p:pic>
        <p:nvPicPr>
          <p:cNvPr id="6" name="Image 0" descr="/Users/eyalhazut/Documents/Claude/Projects/hk/mainScreen/docs/shots/z-brief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0" y="2176272"/>
            <a:ext cx="7418527" cy="42976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351215" y="2560320"/>
            <a:ext cx="2926080" cy="621792"/>
          </a:xfrm>
          <a:prstGeom prst="roundRect">
            <a:avLst>
              <a:gd name="adj" fmla="val 8824"/>
            </a:avLst>
          </a:prstGeom>
          <a:solidFill>
            <a:srgbClr val="0C406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460943" y="2560320"/>
            <a:ext cx="27066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«היתרה 75,187 ₪ — צפויה חריגה ב־11.07»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58368" y="2176272"/>
            <a:ext cx="3200400" cy="4297680"/>
          </a:xfrm>
          <a:prstGeom prst="roundRect">
            <a:avLst>
              <a:gd name="adj" fmla="val 2000"/>
            </a:avLst>
          </a:prstGeom>
          <a:solidFill>
            <a:srgbClr val="F4F7FA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59536" y="2395728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E8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היתרון ליועץ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2779776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שימור לקוחות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859536" y="3108960"/>
            <a:ext cx="2798064" cy="810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1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הלקוח מרגיש מטופל כל בוקר, לא רק ביום הפגישה.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59536" y="3992880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white-label מלא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859536" y="4322064"/>
            <a:ext cx="2798064" cy="810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1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אין אזכור ל־HK בשום מקום — לא בכותרת, לא בשם הבוט, לא בתפקידים.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59536" y="5205984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פחות שאלות אליך</a:t>
            </a:r>
            <a:endParaRPr 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859536" y="5535168"/>
            <a:ext cx="2798064" cy="810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1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שהלקוח שואל את העוזר נענה מיד; מה שדורש יועץ מגיע אליך כמשימה.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6576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E8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ומעל הכל · ניהול המשרד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900" b="1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שכבת ניהול למשרד שגדל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1261872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1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שמאפשר להעביר את השיטה בין יועצים: הרשאות ותפקידים, מחזור חודשי אחיד, תבניות הודעות מאושרות, ובקרת איכות על התוצרים של ה־AI.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875727" y="2651760"/>
            <a:ext cx="3657600" cy="713232"/>
          </a:xfrm>
          <a:prstGeom prst="roundRect">
            <a:avLst>
              <a:gd name="adj" fmla="val 50000"/>
            </a:avLst>
          </a:prstGeom>
          <a:solidFill>
            <a:srgbClr val="F4F7FA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12887" y="2651760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יועצים והרשאות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3980383" y="2651760"/>
            <a:ext cx="3657600" cy="713232"/>
          </a:xfrm>
          <a:prstGeom prst="roundRect">
            <a:avLst>
              <a:gd name="adj" fmla="val 50000"/>
            </a:avLst>
          </a:prstGeom>
          <a:solidFill>
            <a:srgbClr val="F4F7FA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117543" y="2651760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חיוב וגבייה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5039" y="2651760"/>
            <a:ext cx="3657600" cy="713232"/>
          </a:xfrm>
          <a:prstGeom prst="roundRect">
            <a:avLst>
              <a:gd name="adj" fmla="val 50000"/>
            </a:avLst>
          </a:prstGeom>
          <a:solidFill>
            <a:srgbClr val="F4F7FA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22199" y="2651760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לידים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875727" y="3602736"/>
            <a:ext cx="3657600" cy="713232"/>
          </a:xfrm>
          <a:prstGeom prst="roundRect">
            <a:avLst>
              <a:gd name="adj" fmla="val 50000"/>
            </a:avLst>
          </a:prstGeom>
          <a:solidFill>
            <a:srgbClr val="F4F7FA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12887" y="3602736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סוגי הודעות אוטומטיות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3980383" y="3602736"/>
            <a:ext cx="3657600" cy="713232"/>
          </a:xfrm>
          <a:prstGeom prst="roundRect">
            <a:avLst>
              <a:gd name="adj" fmla="val 50000"/>
            </a:avLst>
          </a:prstGeom>
          <a:solidFill>
            <a:srgbClr val="F4F7FA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7543" y="3602736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שיוך מספרי טלפון לחברות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5039" y="3602736"/>
            <a:ext cx="3657600" cy="713232"/>
          </a:xfrm>
          <a:prstGeom prst="roundRect">
            <a:avLst>
              <a:gd name="adj" fmla="val 50000"/>
            </a:avLst>
          </a:prstGeom>
          <a:solidFill>
            <a:srgbClr val="F4F7FA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22199" y="3602736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קטגוריות קיטלוג ובסיס ידע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7875727" y="4553712"/>
            <a:ext cx="3657600" cy="713232"/>
          </a:xfrm>
          <a:prstGeom prst="roundRect">
            <a:avLst>
              <a:gd name="adj" fmla="val 50000"/>
            </a:avLst>
          </a:prstGeom>
          <a:solidFill>
            <a:srgbClr val="F4F7FA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12887" y="4553712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בדיקות איכות על תוצרי ה־AI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3980383" y="4553712"/>
            <a:ext cx="3657600" cy="713232"/>
          </a:xfrm>
          <a:prstGeom prst="roundRect">
            <a:avLst>
              <a:gd name="adj" fmla="val 50000"/>
            </a:avLst>
          </a:prstGeom>
          <a:solidFill>
            <a:srgbClr val="F4F7FA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117543" y="4553712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משימות ובקשות ל־HK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85039" y="4553712"/>
            <a:ext cx="3657600" cy="713232"/>
          </a:xfrm>
          <a:prstGeom prst="roundRect">
            <a:avLst>
              <a:gd name="adj" fmla="val 50000"/>
            </a:avLst>
          </a:prstGeom>
          <a:solidFill>
            <a:srgbClr val="F4F7FA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22199" y="4553712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עזרה מותאמת בכל מסך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5943600"/>
            <a:ext cx="10874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51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השיטה מוגדרת ברמת המשרד — מחזור חודשי, שלבים ויעדים — כך שיועץ חדש נכנס לשיטה קיימת ולא ממציא אותה מחדש.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C406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E8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זה משנה בפועל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768096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הזמן שיורד מהיועץ, פר לקוח לחודש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870448" y="1691640"/>
            <a:ext cx="56628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9FC0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פעילות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3401568" y="16916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9FC0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היום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16916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9FC0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עם HK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58368" y="2240280"/>
            <a:ext cx="10874959" cy="10973"/>
          </a:xfrm>
          <a:prstGeom prst="rect">
            <a:avLst/>
          </a:prstGeom>
          <a:solidFill>
            <a:srgbClr val="3F6E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870448" y="2286000"/>
            <a:ext cx="56628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DC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תפעול תזרים — קיטלוג, התאמות, רדיפה אחרי חומר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3401568" y="22860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F2A7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4–8 שעות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22860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7FD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58368" y="2834640"/>
            <a:ext cx="10874959" cy="10973"/>
          </a:xfrm>
          <a:prstGeom prst="rect">
            <a:avLst/>
          </a:prstGeom>
          <a:solidFill>
            <a:srgbClr val="1E548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870448" y="2880360"/>
            <a:ext cx="56628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DC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הכנה לפגישה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3401568" y="2880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F2A7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כשעה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28803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7FD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דקות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58368" y="3429000"/>
            <a:ext cx="10874959" cy="10973"/>
          </a:xfrm>
          <a:prstGeom prst="rect">
            <a:avLst/>
          </a:prstGeom>
          <a:solidFill>
            <a:srgbClr val="1E548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870448" y="3474720"/>
            <a:ext cx="56628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DC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 ומשימות אחרי פגישה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3401568" y="3474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F2A7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כחצי שעה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34747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7FD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דקות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58368" y="4023360"/>
            <a:ext cx="10874959" cy="10973"/>
          </a:xfrm>
          <a:prstGeom prst="rect">
            <a:avLst/>
          </a:prstGeom>
          <a:solidFill>
            <a:srgbClr val="1E548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870448" y="4069080"/>
            <a:ext cx="56628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DC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מענה שוטף בוואטסאפ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3401568" y="40690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F2A7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1–2 שעות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40690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7FD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רק מה שדורש יועץ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658368" y="4617720"/>
            <a:ext cx="10874959" cy="10973"/>
          </a:xfrm>
          <a:prstGeom prst="rect">
            <a:avLst/>
          </a:prstGeom>
          <a:solidFill>
            <a:srgbClr val="1E5480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4608576"/>
            <a:ext cx="10874959" cy="27432"/>
          </a:xfrm>
          <a:prstGeom prst="rect">
            <a:avLst/>
          </a:prstGeom>
          <a:solidFill>
            <a:srgbClr val="3F6E9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70448" y="4663440"/>
            <a:ext cx="566287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DC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סה״כ פר לקוח לחודש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3401568" y="466344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F2A7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7–10 שעות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466344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7FD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1–1.5 שעות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658368" y="5989320"/>
            <a:ext cx="10874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9FC0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 שעות עבודת לקוחות בחודש מכסות היום 8–10 לקוחות. כשהתפעול יורד — אותן שעות מכסות 25–30.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C406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E8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מתחילים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768096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לקוח אחד, חודש הרצה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8003743" y="2011680"/>
            <a:ext cx="3529584" cy="2743200"/>
          </a:xfrm>
          <a:prstGeom prst="roundRect">
            <a:avLst>
              <a:gd name="adj" fmla="val 2333"/>
            </a:avLst>
          </a:prstGeom>
          <a:solidFill>
            <a:srgbClr val="104A76"/>
          </a:solidFill>
          <a:ln w="12700">
            <a:solidFill>
              <a:srgbClr val="2A649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10367" y="2395728"/>
            <a:ext cx="475488" cy="475488"/>
          </a:xfrm>
          <a:prstGeom prst="ellipse">
            <a:avLst/>
          </a:prstGeom>
          <a:solidFill>
            <a:srgbClr val="E8635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10367" y="23957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41487" y="3063240"/>
            <a:ext cx="30540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בוחרים לקוח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241487" y="3529584"/>
            <a:ext cx="30540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FC0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עדיף כזה שהתפעול שלו כבד — שם ההבדל נראה כבר בחודש הראשון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18127" y="2011680"/>
            <a:ext cx="3529584" cy="2743200"/>
          </a:xfrm>
          <a:prstGeom prst="roundRect">
            <a:avLst>
              <a:gd name="adj" fmla="val 2333"/>
            </a:avLst>
          </a:prstGeom>
          <a:solidFill>
            <a:srgbClr val="104A76"/>
          </a:solidFill>
          <a:ln w="12700">
            <a:solidFill>
              <a:srgbClr val="2A649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924751" y="2395728"/>
            <a:ext cx="475488" cy="475488"/>
          </a:xfrm>
          <a:prstGeom prst="ellipse">
            <a:avLst/>
          </a:prstGeom>
          <a:solidFill>
            <a:srgbClr val="E8635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924751" y="23957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455871" y="3063240"/>
            <a:ext cx="30540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ישיבת פתיחה אחת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455871" y="3529584"/>
            <a:ext cx="30540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FC0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חשבונות בנק, כרטסת אם יש, קטגוריות ואנשי הקשר שמקבלים הודעות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2511" y="2011680"/>
            <a:ext cx="3529584" cy="2743200"/>
          </a:xfrm>
          <a:prstGeom prst="roundRect">
            <a:avLst>
              <a:gd name="adj" fmla="val 2333"/>
            </a:avLst>
          </a:prstGeom>
          <a:solidFill>
            <a:srgbClr val="104A76"/>
          </a:solidFill>
          <a:ln w="12700">
            <a:solidFill>
              <a:srgbClr val="2A649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139135" y="2395728"/>
            <a:ext cx="475488" cy="475488"/>
          </a:xfrm>
          <a:prstGeom prst="ellipse">
            <a:avLst/>
          </a:prstGeom>
          <a:solidFill>
            <a:srgbClr val="E8635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139135" y="23957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70255" y="3063240"/>
            <a:ext cx="30540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HK מריצה לו חודש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670255" y="3529584"/>
            <a:ext cx="30540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FC0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קיטלוג, בדיקות, תזרים מוכן — ואתה מגיע לפגישה ורואה מה השתנה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5852160"/>
            <a:ext cx="10874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9FC0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אין פרויקט הטמעה ואין חודש שבו עובדים כפול. אפשר להריץ במקביל לשיטה הקיימת, כמה זמן שתרצה.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HK — מערכת ניהול ליועצים עסקיים</dc:title>
  <dc:subject>PptxGenJS Presentation</dc:subject>
  <dc:creator>HK</dc:creator>
  <cp:lastModifiedBy>HK</cp:lastModifiedBy>
  <cp:revision>1</cp:revision>
  <dcterms:created xsi:type="dcterms:W3CDTF">2026-09-02T05:08:54Z</dcterms:created>
  <dcterms:modified xsi:type="dcterms:W3CDTF">2026-09-02T05:08:54Z</dcterms:modified>
</cp:coreProperties>
</file>